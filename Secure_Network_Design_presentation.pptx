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66" r:id="rId2"/>
    <p:sldId id="256" r:id="rId3"/>
    <p:sldId id="265" r:id="rId4"/>
    <p:sldId id="268" r:id="rId5"/>
    <p:sldId id="269" r:id="rId6"/>
    <p:sldId id="271" r:id="rId7"/>
    <p:sldId id="257" r:id="rId8"/>
    <p:sldId id="258" r:id="rId9"/>
    <p:sldId id="259" r:id="rId10"/>
    <p:sldId id="260" r:id="rId11"/>
    <p:sldId id="276" r:id="rId12"/>
    <p:sldId id="275" r:id="rId13"/>
    <p:sldId id="262" r:id="rId14"/>
    <p:sldId id="272" r:id="rId15"/>
    <p:sldId id="273" r:id="rId16"/>
    <p:sldId id="274" r:id="rId17"/>
    <p:sldId id="264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800" autoAdjust="0"/>
  </p:normalViewPr>
  <p:slideViewPr>
    <p:cSldViewPr snapToGrid="0" snapToObjects="1">
      <p:cViewPr varScale="1">
        <p:scale>
          <a:sx n="64" d="100"/>
          <a:sy n="64" d="100"/>
        </p:scale>
        <p:origin x="1664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139B19-9210-4494-A975-72B1F9D30E1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94BC6-7F73-4BB9-8209-CB1668521E2E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618E9E2E-331A-4202-94EF-6AD779AEF888}" type="parTrans" cxnId="{5EF3D1B4-229C-4473-8C33-90530D88AC76}">
      <dgm:prSet/>
      <dgm:spPr/>
      <dgm:t>
        <a:bodyPr/>
        <a:lstStyle/>
        <a:p>
          <a:endParaRPr lang="en-US"/>
        </a:p>
      </dgm:t>
    </dgm:pt>
    <dgm:pt modelId="{33FDF9BF-48E3-4510-8D50-5EEB8B6582EC}" type="sibTrans" cxnId="{5EF3D1B4-229C-4473-8C33-90530D88AC76}">
      <dgm:prSet/>
      <dgm:spPr/>
      <dgm:t>
        <a:bodyPr/>
        <a:lstStyle/>
        <a:p>
          <a:endParaRPr lang="en-US"/>
        </a:p>
      </dgm:t>
    </dgm:pt>
    <dgm:pt modelId="{0FDB53CD-9B2D-448A-AC35-7792617C14B8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94A9F92D-DC56-4D3E-BC35-B4E06C546185}" type="parTrans" cxnId="{63F89800-CEE6-4FDC-B910-BDD5BC9F36C4}">
      <dgm:prSet/>
      <dgm:spPr/>
      <dgm:t>
        <a:bodyPr/>
        <a:lstStyle/>
        <a:p>
          <a:endParaRPr lang="en-US"/>
        </a:p>
      </dgm:t>
    </dgm:pt>
    <dgm:pt modelId="{4CA920A1-3F8B-4412-92AB-DBCDE261B3AF}" type="sibTrans" cxnId="{63F89800-CEE6-4FDC-B910-BDD5BC9F36C4}">
      <dgm:prSet/>
      <dgm:spPr/>
      <dgm:t>
        <a:bodyPr/>
        <a:lstStyle/>
        <a:p>
          <a:endParaRPr lang="en-US"/>
        </a:p>
      </dgm:t>
    </dgm:pt>
    <dgm:pt modelId="{F536EEF9-1820-440C-A29C-21000D8FDBBE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53212772-A104-4A31-B680-73CBB17AF8CB}" type="parTrans" cxnId="{3C2B9A2D-801F-4B81-AB30-9337F4DE09B6}">
      <dgm:prSet/>
      <dgm:spPr/>
      <dgm:t>
        <a:bodyPr/>
        <a:lstStyle/>
        <a:p>
          <a:endParaRPr lang="en-US"/>
        </a:p>
      </dgm:t>
    </dgm:pt>
    <dgm:pt modelId="{F98DDAF4-90F3-4A2F-92A1-0B16B17EDD56}" type="sibTrans" cxnId="{3C2B9A2D-801F-4B81-AB30-9337F4DE09B6}">
      <dgm:prSet/>
      <dgm:spPr/>
      <dgm:t>
        <a:bodyPr/>
        <a:lstStyle/>
        <a:p>
          <a:endParaRPr lang="en-US"/>
        </a:p>
      </dgm:t>
    </dgm:pt>
    <dgm:pt modelId="{6499D14A-74CC-4553-82EA-CF1F4DAA81FA}" type="pres">
      <dgm:prSet presAssocID="{76139B19-9210-4494-A975-72B1F9D30E1B}" presName="root" presStyleCnt="0">
        <dgm:presLayoutVars>
          <dgm:dir/>
          <dgm:resizeHandles val="exact"/>
        </dgm:presLayoutVars>
      </dgm:prSet>
      <dgm:spPr/>
    </dgm:pt>
    <dgm:pt modelId="{3B031DAE-A8A4-4D95-9E67-AA3CB14C5147}" type="pres">
      <dgm:prSet presAssocID="{EA294BC6-7F73-4BB9-8209-CB1668521E2E}" presName="compNode" presStyleCnt="0"/>
      <dgm:spPr/>
    </dgm:pt>
    <dgm:pt modelId="{7C5A7D84-3ABC-4783-B6EC-F69CF9C2C1B8}" type="pres">
      <dgm:prSet presAssocID="{EA294BC6-7F73-4BB9-8209-CB1668521E2E}" presName="bgRect" presStyleLbl="bgShp" presStyleIdx="0" presStyleCnt="3" custLinFactY="-30236" custLinFactNeighborX="77681" custLinFactNeighborY="-100000"/>
      <dgm:spPr/>
    </dgm:pt>
    <dgm:pt modelId="{2A3B3FD0-2956-493A-BCD7-E18E518317B3}" type="pres">
      <dgm:prSet presAssocID="{EA294BC6-7F73-4BB9-8209-CB1668521E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F481C50-4040-46F6-9826-405AF7D46768}" type="pres">
      <dgm:prSet presAssocID="{EA294BC6-7F73-4BB9-8209-CB1668521E2E}" presName="spaceRect" presStyleCnt="0"/>
      <dgm:spPr/>
    </dgm:pt>
    <dgm:pt modelId="{E06CAEF1-3B2C-4CA8-9FE3-00ABCBB79342}" type="pres">
      <dgm:prSet presAssocID="{EA294BC6-7F73-4BB9-8209-CB1668521E2E}" presName="parTx" presStyleLbl="revTx" presStyleIdx="0" presStyleCnt="3">
        <dgm:presLayoutVars>
          <dgm:chMax val="0"/>
          <dgm:chPref val="0"/>
        </dgm:presLayoutVars>
      </dgm:prSet>
      <dgm:spPr/>
    </dgm:pt>
    <dgm:pt modelId="{53354BE7-D59A-454E-A47B-2E2F46AD23D8}" type="pres">
      <dgm:prSet presAssocID="{33FDF9BF-48E3-4510-8D50-5EEB8B6582EC}" presName="sibTrans" presStyleCnt="0"/>
      <dgm:spPr/>
    </dgm:pt>
    <dgm:pt modelId="{CB646B3F-34F9-48C8-B058-E35A64054B96}" type="pres">
      <dgm:prSet presAssocID="{0FDB53CD-9B2D-448A-AC35-7792617C14B8}" presName="compNode" presStyleCnt="0"/>
      <dgm:spPr/>
    </dgm:pt>
    <dgm:pt modelId="{E2C0B663-B67A-4AE0-856D-CA86991C89CE}" type="pres">
      <dgm:prSet presAssocID="{0FDB53CD-9B2D-448A-AC35-7792617C14B8}" presName="bgRect" presStyleLbl="bgShp" presStyleIdx="1" presStyleCnt="3"/>
      <dgm:spPr/>
    </dgm:pt>
    <dgm:pt modelId="{7A73C280-B46E-452B-B736-D9915A344DD0}" type="pres">
      <dgm:prSet presAssocID="{0FDB53CD-9B2D-448A-AC35-7792617C14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88C1A58-7756-4A37-9F4E-63E033136098}" type="pres">
      <dgm:prSet presAssocID="{0FDB53CD-9B2D-448A-AC35-7792617C14B8}" presName="spaceRect" presStyleCnt="0"/>
      <dgm:spPr/>
    </dgm:pt>
    <dgm:pt modelId="{4E0FBA88-21B2-4079-8BA0-6F88BA3EFC3A}" type="pres">
      <dgm:prSet presAssocID="{0FDB53CD-9B2D-448A-AC35-7792617C14B8}" presName="parTx" presStyleLbl="revTx" presStyleIdx="1" presStyleCnt="3">
        <dgm:presLayoutVars>
          <dgm:chMax val="0"/>
          <dgm:chPref val="0"/>
        </dgm:presLayoutVars>
      </dgm:prSet>
      <dgm:spPr/>
    </dgm:pt>
    <dgm:pt modelId="{0687C095-62C2-459D-B068-D06CEB925001}" type="pres">
      <dgm:prSet presAssocID="{4CA920A1-3F8B-4412-92AB-DBCDE261B3AF}" presName="sibTrans" presStyleCnt="0"/>
      <dgm:spPr/>
    </dgm:pt>
    <dgm:pt modelId="{8F11DDA0-C4BF-4AC6-8598-DE5D1E11117E}" type="pres">
      <dgm:prSet presAssocID="{F536EEF9-1820-440C-A29C-21000D8FDBBE}" presName="compNode" presStyleCnt="0"/>
      <dgm:spPr/>
    </dgm:pt>
    <dgm:pt modelId="{0056EC11-3585-40F9-8CDC-C7343F8A110B}" type="pres">
      <dgm:prSet presAssocID="{F536EEF9-1820-440C-A29C-21000D8FDBBE}" presName="bgRect" presStyleLbl="bgShp" presStyleIdx="2" presStyleCnt="3"/>
      <dgm:spPr/>
    </dgm:pt>
    <dgm:pt modelId="{64E77E3B-564D-45F8-81AC-2D32C3E20FB3}" type="pres">
      <dgm:prSet presAssocID="{F536EEF9-1820-440C-A29C-21000D8FDB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7C8189E7-526B-443E-A8B0-58650FBC9127}" type="pres">
      <dgm:prSet presAssocID="{F536EEF9-1820-440C-A29C-21000D8FDBBE}" presName="spaceRect" presStyleCnt="0"/>
      <dgm:spPr/>
    </dgm:pt>
    <dgm:pt modelId="{DB5218C4-04DA-4518-BFC7-33C115935B34}" type="pres">
      <dgm:prSet presAssocID="{F536EEF9-1820-440C-A29C-21000D8FDBB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3F89800-CEE6-4FDC-B910-BDD5BC9F36C4}" srcId="{76139B19-9210-4494-A975-72B1F9D30E1B}" destId="{0FDB53CD-9B2D-448A-AC35-7792617C14B8}" srcOrd="1" destOrd="0" parTransId="{94A9F92D-DC56-4D3E-BC35-B4E06C546185}" sibTransId="{4CA920A1-3F8B-4412-92AB-DBCDE261B3AF}"/>
    <dgm:cxn modelId="{3C2B9A2D-801F-4B81-AB30-9337F4DE09B6}" srcId="{76139B19-9210-4494-A975-72B1F9D30E1B}" destId="{F536EEF9-1820-440C-A29C-21000D8FDBBE}" srcOrd="2" destOrd="0" parTransId="{53212772-A104-4A31-B680-73CBB17AF8CB}" sibTransId="{F98DDAF4-90F3-4A2F-92A1-0B16B17EDD56}"/>
    <dgm:cxn modelId="{628B0A62-9C0A-49DF-827B-177DA6E0CDE0}" type="presOf" srcId="{EA294BC6-7F73-4BB9-8209-CB1668521E2E}" destId="{E06CAEF1-3B2C-4CA8-9FE3-00ABCBB79342}" srcOrd="0" destOrd="0" presId="urn:microsoft.com/office/officeart/2018/2/layout/IconVerticalSolidList"/>
    <dgm:cxn modelId="{02BC4355-C885-4E74-9709-DB86BC0F1932}" type="presOf" srcId="{0FDB53CD-9B2D-448A-AC35-7792617C14B8}" destId="{4E0FBA88-21B2-4079-8BA0-6F88BA3EFC3A}" srcOrd="0" destOrd="0" presId="urn:microsoft.com/office/officeart/2018/2/layout/IconVerticalSolidList"/>
    <dgm:cxn modelId="{5EF3D1B4-229C-4473-8C33-90530D88AC76}" srcId="{76139B19-9210-4494-A975-72B1F9D30E1B}" destId="{EA294BC6-7F73-4BB9-8209-CB1668521E2E}" srcOrd="0" destOrd="0" parTransId="{618E9E2E-331A-4202-94EF-6AD779AEF888}" sibTransId="{33FDF9BF-48E3-4510-8D50-5EEB8B6582EC}"/>
    <dgm:cxn modelId="{75E565EA-6458-4178-948A-E0E5A2B795B9}" type="presOf" srcId="{76139B19-9210-4494-A975-72B1F9D30E1B}" destId="{6499D14A-74CC-4553-82EA-CF1F4DAA81FA}" srcOrd="0" destOrd="0" presId="urn:microsoft.com/office/officeart/2018/2/layout/IconVerticalSolidList"/>
    <dgm:cxn modelId="{919DB49F-DB71-4BCB-B72B-D2250EC82D4D}" type="presOf" srcId="{F536EEF9-1820-440C-A29C-21000D8FDBBE}" destId="{DB5218C4-04DA-4518-BFC7-33C115935B34}" srcOrd="0" destOrd="0" presId="urn:microsoft.com/office/officeart/2018/2/layout/IconVerticalSolidList"/>
    <dgm:cxn modelId="{CFCE2590-E5C4-4E2B-A158-F10149C06E68}" type="presParOf" srcId="{6499D14A-74CC-4553-82EA-CF1F4DAA81FA}" destId="{3B031DAE-A8A4-4D95-9E67-AA3CB14C5147}" srcOrd="0" destOrd="0" presId="urn:microsoft.com/office/officeart/2018/2/layout/IconVerticalSolidList"/>
    <dgm:cxn modelId="{ABE574A3-7A13-41F6-B496-63FB7BCE9327}" type="presParOf" srcId="{3B031DAE-A8A4-4D95-9E67-AA3CB14C5147}" destId="{7C5A7D84-3ABC-4783-B6EC-F69CF9C2C1B8}" srcOrd="0" destOrd="0" presId="urn:microsoft.com/office/officeart/2018/2/layout/IconVerticalSolidList"/>
    <dgm:cxn modelId="{C17F7548-7A86-4280-A30E-FBF2CABB0AAB}" type="presParOf" srcId="{3B031DAE-A8A4-4D95-9E67-AA3CB14C5147}" destId="{2A3B3FD0-2956-493A-BCD7-E18E518317B3}" srcOrd="1" destOrd="0" presId="urn:microsoft.com/office/officeart/2018/2/layout/IconVerticalSolidList"/>
    <dgm:cxn modelId="{CAC6D1ED-D412-41A1-B576-4E42DB48543B}" type="presParOf" srcId="{3B031DAE-A8A4-4D95-9E67-AA3CB14C5147}" destId="{EF481C50-4040-46F6-9826-405AF7D46768}" srcOrd="2" destOrd="0" presId="urn:microsoft.com/office/officeart/2018/2/layout/IconVerticalSolidList"/>
    <dgm:cxn modelId="{8C4F5727-3D8C-4470-95D3-D316100A8261}" type="presParOf" srcId="{3B031DAE-A8A4-4D95-9E67-AA3CB14C5147}" destId="{E06CAEF1-3B2C-4CA8-9FE3-00ABCBB79342}" srcOrd="3" destOrd="0" presId="urn:microsoft.com/office/officeart/2018/2/layout/IconVerticalSolidList"/>
    <dgm:cxn modelId="{9FF53441-F4FC-42F0-AC31-B0A754708497}" type="presParOf" srcId="{6499D14A-74CC-4553-82EA-CF1F4DAA81FA}" destId="{53354BE7-D59A-454E-A47B-2E2F46AD23D8}" srcOrd="1" destOrd="0" presId="urn:microsoft.com/office/officeart/2018/2/layout/IconVerticalSolidList"/>
    <dgm:cxn modelId="{3088CF21-0940-4181-9230-2B0624A3CF21}" type="presParOf" srcId="{6499D14A-74CC-4553-82EA-CF1F4DAA81FA}" destId="{CB646B3F-34F9-48C8-B058-E35A64054B96}" srcOrd="2" destOrd="0" presId="urn:microsoft.com/office/officeart/2018/2/layout/IconVerticalSolidList"/>
    <dgm:cxn modelId="{E49518AD-F8C8-4791-973B-D1AE43C593DE}" type="presParOf" srcId="{CB646B3F-34F9-48C8-B058-E35A64054B96}" destId="{E2C0B663-B67A-4AE0-856D-CA86991C89CE}" srcOrd="0" destOrd="0" presId="urn:microsoft.com/office/officeart/2018/2/layout/IconVerticalSolidList"/>
    <dgm:cxn modelId="{35D30BA7-FE30-4C53-8D3F-E6F8D5E93FF7}" type="presParOf" srcId="{CB646B3F-34F9-48C8-B058-E35A64054B96}" destId="{7A73C280-B46E-452B-B736-D9915A344DD0}" srcOrd="1" destOrd="0" presId="urn:microsoft.com/office/officeart/2018/2/layout/IconVerticalSolidList"/>
    <dgm:cxn modelId="{BB97E511-EFFF-406A-BF20-207ED7C5D57F}" type="presParOf" srcId="{CB646B3F-34F9-48C8-B058-E35A64054B96}" destId="{388C1A58-7756-4A37-9F4E-63E033136098}" srcOrd="2" destOrd="0" presId="urn:microsoft.com/office/officeart/2018/2/layout/IconVerticalSolidList"/>
    <dgm:cxn modelId="{D4113462-AF45-4D34-9320-CBD1AC553948}" type="presParOf" srcId="{CB646B3F-34F9-48C8-B058-E35A64054B96}" destId="{4E0FBA88-21B2-4079-8BA0-6F88BA3EFC3A}" srcOrd="3" destOrd="0" presId="urn:microsoft.com/office/officeart/2018/2/layout/IconVerticalSolidList"/>
    <dgm:cxn modelId="{A1EAC3FD-1EEE-4A2B-959E-21B0CB43D8E8}" type="presParOf" srcId="{6499D14A-74CC-4553-82EA-CF1F4DAA81FA}" destId="{0687C095-62C2-459D-B068-D06CEB925001}" srcOrd="3" destOrd="0" presId="urn:microsoft.com/office/officeart/2018/2/layout/IconVerticalSolidList"/>
    <dgm:cxn modelId="{93011566-D2A7-41EC-AE2F-A0934F835536}" type="presParOf" srcId="{6499D14A-74CC-4553-82EA-CF1F4DAA81FA}" destId="{8F11DDA0-C4BF-4AC6-8598-DE5D1E11117E}" srcOrd="4" destOrd="0" presId="urn:microsoft.com/office/officeart/2018/2/layout/IconVerticalSolidList"/>
    <dgm:cxn modelId="{20210261-71E5-4E2E-97B2-A2E300EC7F88}" type="presParOf" srcId="{8F11DDA0-C4BF-4AC6-8598-DE5D1E11117E}" destId="{0056EC11-3585-40F9-8CDC-C7343F8A110B}" srcOrd="0" destOrd="0" presId="urn:microsoft.com/office/officeart/2018/2/layout/IconVerticalSolidList"/>
    <dgm:cxn modelId="{8F9EE746-0588-4A9C-943C-985E09CA35BB}" type="presParOf" srcId="{8F11DDA0-C4BF-4AC6-8598-DE5D1E11117E}" destId="{64E77E3B-564D-45F8-81AC-2D32C3E20FB3}" srcOrd="1" destOrd="0" presId="urn:microsoft.com/office/officeart/2018/2/layout/IconVerticalSolidList"/>
    <dgm:cxn modelId="{5FB77749-1850-4BEA-8AE2-B082596F3BF0}" type="presParOf" srcId="{8F11DDA0-C4BF-4AC6-8598-DE5D1E11117E}" destId="{7C8189E7-526B-443E-A8B0-58650FBC9127}" srcOrd="2" destOrd="0" presId="urn:microsoft.com/office/officeart/2018/2/layout/IconVerticalSolidList"/>
    <dgm:cxn modelId="{C5200075-66DA-4B93-9D08-3F127E1C984F}" type="presParOf" srcId="{8F11DDA0-C4BF-4AC6-8598-DE5D1E11117E}" destId="{DB5218C4-04DA-4518-BFC7-33C115935B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A7D84-3ABC-4783-B6EC-F69CF9C2C1B8}">
      <dsp:nvSpPr>
        <dsp:cNvPr id="0" name=""/>
        <dsp:cNvSpPr/>
      </dsp:nvSpPr>
      <dsp:spPr>
        <a:xfrm>
          <a:off x="0" y="0"/>
          <a:ext cx="5303520" cy="11753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3B3FD0-2956-493A-BCD7-E18E518317B3}">
      <dsp:nvSpPr>
        <dsp:cNvPr id="0" name=""/>
        <dsp:cNvSpPr/>
      </dsp:nvSpPr>
      <dsp:spPr>
        <a:xfrm>
          <a:off x="355549" y="264960"/>
          <a:ext cx="646453" cy="6464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CAEF1-3B2C-4CA8-9FE3-00ABCBB79342}">
      <dsp:nvSpPr>
        <dsp:cNvPr id="0" name=""/>
        <dsp:cNvSpPr/>
      </dsp:nvSpPr>
      <dsp:spPr>
        <a:xfrm>
          <a:off x="1357552" y="502"/>
          <a:ext cx="3945967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1357552" y="502"/>
        <a:ext cx="3945967" cy="1175370"/>
      </dsp:txXfrm>
    </dsp:sp>
    <dsp:sp modelId="{E2C0B663-B67A-4AE0-856D-CA86991C89CE}">
      <dsp:nvSpPr>
        <dsp:cNvPr id="0" name=""/>
        <dsp:cNvSpPr/>
      </dsp:nvSpPr>
      <dsp:spPr>
        <a:xfrm>
          <a:off x="0" y="1469714"/>
          <a:ext cx="5303520" cy="11753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73C280-B46E-452B-B736-D9915A344DD0}">
      <dsp:nvSpPr>
        <dsp:cNvPr id="0" name=""/>
        <dsp:cNvSpPr/>
      </dsp:nvSpPr>
      <dsp:spPr>
        <a:xfrm>
          <a:off x="355549" y="1734173"/>
          <a:ext cx="646453" cy="6464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FBA88-21B2-4079-8BA0-6F88BA3EFC3A}">
      <dsp:nvSpPr>
        <dsp:cNvPr id="0" name=""/>
        <dsp:cNvSpPr/>
      </dsp:nvSpPr>
      <dsp:spPr>
        <a:xfrm>
          <a:off x="1357552" y="1469714"/>
          <a:ext cx="3945967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1357552" y="1469714"/>
        <a:ext cx="3945967" cy="1175370"/>
      </dsp:txXfrm>
    </dsp:sp>
    <dsp:sp modelId="{0056EC11-3585-40F9-8CDC-C7343F8A110B}">
      <dsp:nvSpPr>
        <dsp:cNvPr id="0" name=""/>
        <dsp:cNvSpPr/>
      </dsp:nvSpPr>
      <dsp:spPr>
        <a:xfrm>
          <a:off x="0" y="2938927"/>
          <a:ext cx="5303520" cy="11753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77E3B-564D-45F8-81AC-2D32C3E20FB3}">
      <dsp:nvSpPr>
        <dsp:cNvPr id="0" name=""/>
        <dsp:cNvSpPr/>
      </dsp:nvSpPr>
      <dsp:spPr>
        <a:xfrm>
          <a:off x="355549" y="3203385"/>
          <a:ext cx="646453" cy="6464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218C4-04DA-4518-BFC7-33C115935B34}">
      <dsp:nvSpPr>
        <dsp:cNvPr id="0" name=""/>
        <dsp:cNvSpPr/>
      </dsp:nvSpPr>
      <dsp:spPr>
        <a:xfrm>
          <a:off x="1357552" y="2938927"/>
          <a:ext cx="3945967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1357552" y="2938927"/>
        <a:ext cx="3945967" cy="1175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88FF7-6A7D-4077-B28C-A665F0B06E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70960-CC8B-4673-8353-289B15988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8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95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50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44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0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50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75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22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Axel RADIUS uses UDP while TACACS+ uses TCP. TCP offers several advantages over UDP. TCP offers a connection-oriented transport, while UDP offers best-effort delivery. RADIUS requires additional programmable variables such as re-transmit attempts and time-outs to compensate for best-effort transport, but it lacks the level of built-in support that a TCP transport offers: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00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63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20C6-B67A-6513-AC5D-BDD79CCA7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3A9E6-8CE3-587D-4D0F-CCA4061A7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28CC5-78DA-46BD-AEF8-77CC3F0BF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40104-9B83-8B13-B178-D3E5C71E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21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46FD-B3BC-A365-1618-0CEC12F6E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B0C82-0B1B-5F1B-5B8F-0C04E25AB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75109-E16A-D09D-E71C-1AD2E312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B37B3-2DB9-CE49-93D5-B76DC19A2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04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06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12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11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27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75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70960-CC8B-4673-8353-289B159888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26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03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7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68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4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14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9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0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4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97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644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02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0186-56D1-38D0-9387-8EF47D94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A801FC-7F2A-33DC-E35A-1FC7FE948FFC}"/>
              </a:ext>
            </a:extLst>
          </p:cNvPr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FF33A-CC19-A7D2-8D3A-9CAE6186EDAA}"/>
              </a:ext>
            </a:extLst>
          </p:cNvPr>
          <p:cNvSpPr txBox="1"/>
          <p:nvPr/>
        </p:nvSpPr>
        <p:spPr>
          <a:xfrm>
            <a:off x="1841844" y="1128234"/>
            <a:ext cx="5460311" cy="1078253"/>
          </a:xfrm>
          <a:prstGeom prst="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Project: Secure Network Design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772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6278" y="260503"/>
            <a:ext cx="6630175" cy="733842"/>
          </a:xfrm>
          <a:prstGeom prst="round2DiagRect">
            <a:avLst>
              <a:gd name="adj1" fmla="val 15942"/>
              <a:gd name="adj2" fmla="val 2080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Secure Network Design Pr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ject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03161" y="1823363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 / Screenshot</a:t>
            </a:r>
          </a:p>
          <a:p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Insert Here</a:t>
            </a:r>
          </a:p>
        </p:txBody>
      </p:sp>
      <p:graphicFrame>
        <p:nvGraphicFramePr>
          <p:cNvPr id="13" name="TextBox 3">
            <a:extLst>
              <a:ext uri="{FF2B5EF4-FFF2-40B4-BE49-F238E27FC236}">
                <a16:creationId xmlns:a16="http://schemas.microsoft.com/office/drawing/2014/main" id="{AD9741C5-88C2-97E5-E42F-93E8BD37F4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4726555"/>
              </p:ext>
            </p:extLst>
          </p:nvPr>
        </p:nvGraphicFramePr>
        <p:xfrm>
          <a:off x="731520" y="1371600"/>
          <a:ext cx="530352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87ECA1-8503-4EBA-E8DE-4555CA842CA5}"/>
              </a:ext>
            </a:extLst>
          </p:cNvPr>
          <p:cNvSpPr/>
          <p:nvPr/>
        </p:nvSpPr>
        <p:spPr>
          <a:xfrm>
            <a:off x="1930311" y="1371600"/>
            <a:ext cx="4062107" cy="117537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US" sz="2800" dirty="0"/>
              <a:t>Multi-router enterprise Extended-star topology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E18954-B030-BBFD-6D4A-CCCF2C4CB15A}"/>
              </a:ext>
            </a:extLst>
          </p:cNvPr>
          <p:cNvSpPr/>
          <p:nvPr/>
        </p:nvSpPr>
        <p:spPr>
          <a:xfrm>
            <a:off x="1889387" y="2841315"/>
            <a:ext cx="4143954" cy="117537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US" sz="2800" dirty="0"/>
              <a:t>Firewall-controlled DMZ and AAA server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2C7C97-7B3C-5D62-C716-1C338E63A97E}"/>
              </a:ext>
            </a:extLst>
          </p:cNvPr>
          <p:cNvSpPr/>
          <p:nvPr/>
        </p:nvSpPr>
        <p:spPr>
          <a:xfrm>
            <a:off x="1972933" y="4311030"/>
            <a:ext cx="4062107" cy="117537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US" sz="2800" dirty="0"/>
              <a:t>AAA, VLAN, VoIP integration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13" grpId="0">
        <p:bldAsOne/>
      </p:bldGraphic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7801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3685" y="214204"/>
            <a:ext cx="2736627" cy="630019"/>
          </a:xfrm>
          <a:prstGeom prst="round2DiagRect">
            <a:avLst>
              <a:gd name="adj1" fmla="val 13166"/>
              <a:gd name="adj2" fmla="val 7002"/>
            </a:avLst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Our topology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1AE832-932B-D2EE-4593-397F9FD37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40" y="1092561"/>
            <a:ext cx="7923217" cy="51694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1453-3AF6-EFBF-576A-73F8E46F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37583F-4205-E5E7-E9E8-F40CA6A6D93F}"/>
              </a:ext>
            </a:extLst>
          </p:cNvPr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2B402-A1CF-54EB-DE9B-056DB6D16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18" y="187650"/>
            <a:ext cx="3803904" cy="1499616"/>
          </a:xfrm>
        </p:spPr>
        <p:txBody>
          <a:bodyPr/>
          <a:lstStyle/>
          <a:p>
            <a:r>
              <a:rPr lang="en-GB" dirty="0"/>
              <a:t>How we worked (</a:t>
            </a:r>
            <a:r>
              <a:rPr lang="en-GB" dirty="0" err="1"/>
              <a:t>cont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7697-7862-7D26-876C-85AA125A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25266"/>
            <a:ext cx="3812577" cy="1452029"/>
          </a:xfrm>
        </p:spPr>
        <p:txBody>
          <a:bodyPr/>
          <a:lstStyle/>
          <a:p>
            <a:r>
              <a:rPr lang="en-GB" dirty="0"/>
              <a:t>Two main tools used: Jira + </a:t>
            </a:r>
            <a:r>
              <a:rPr lang="en-GB" dirty="0" err="1"/>
              <a:t>Github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D8AB53-5C33-9DD4-A078-80C6C2ACA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88" y="3671507"/>
            <a:ext cx="5071753" cy="3132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4BF59A-9112-4EA5-4385-28B703723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227" y="409010"/>
            <a:ext cx="4702773" cy="316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3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81A430-5ED8-26A6-B434-62AB8FB1D1C3}"/>
              </a:ext>
            </a:extLst>
          </p:cNvPr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B1FB5-17F1-28D2-1799-C3DFEECB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1219518"/>
            <a:ext cx="1971675" cy="1910443"/>
          </a:xfrm>
          <a:noFill/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2700" dirty="0">
                <a:solidFill>
                  <a:srgbClr val="FFFFFF"/>
                </a:solidFill>
              </a:rPr>
              <a:t>Static IPs + Subnets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Scalable talk how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8EAD22-BFDE-36C9-A1A4-E1E5CC2C3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38004" y="1323380"/>
            <a:ext cx="5330508" cy="402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9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666EC8-5F41-C26B-2DC0-99C5944D88D0}"/>
              </a:ext>
            </a:extLst>
          </p:cNvPr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9E12E-DF8E-0584-71F1-8172B6A7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hardening measures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FAE9-D13A-D024-4F56-C7BEB74F5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38092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Things we though of but couldn’t implement and or ran out of time:</a:t>
            </a:r>
          </a:p>
          <a:p>
            <a:endParaRPr lang="en-GB" dirty="0"/>
          </a:p>
          <a:p>
            <a:pPr lvl="1"/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subnet (/28…16-48), didn’t work so we had to abandon </a:t>
            </a:r>
          </a:p>
          <a:p>
            <a:pPr lvl="1"/>
            <a:r>
              <a:rPr lang="en-GB" dirty="0"/>
              <a:t>VOIP : not supported on Router 8200, a day of troubleshooting</a:t>
            </a:r>
          </a:p>
          <a:p>
            <a:pPr lvl="1"/>
            <a:r>
              <a:rPr lang="en-GB" dirty="0"/>
              <a:t>FTP server</a:t>
            </a:r>
          </a:p>
          <a:p>
            <a:pPr lvl="1"/>
            <a:r>
              <a:rPr lang="en-GB" dirty="0"/>
              <a:t>VLANs, some but not all (ex VOIP ok, IT1 ok, IT10 no) </a:t>
            </a:r>
          </a:p>
          <a:p>
            <a:pPr lvl="1"/>
            <a:r>
              <a:rPr lang="en-GB" dirty="0"/>
              <a:t>Certain codes not accepted on basic servers and routers (logging, disable “too many logins”, quiet mode access list, watch login attacks, min length security passwords…)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511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t>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 err="1"/>
              <a:t>Aaa</a:t>
            </a:r>
            <a:r>
              <a:rPr lang="en-US" dirty="0"/>
              <a:t> accede les </a:t>
            </a:r>
            <a:r>
              <a:rPr lang="en-US" dirty="0" err="1"/>
              <a:t>routeur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Transit /30 router links</a:t>
            </a:r>
            <a:r>
              <a:rPr lang="en-US" dirty="0"/>
              <a:t> les router 10.1.1.1 et 10.1.2.1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Central firewall gateway</a:t>
            </a:r>
            <a:r>
              <a:rPr lang="en-US" dirty="0"/>
              <a:t> tout passe par FW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DMZ services isolated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Diagram / Screenshot</a:t>
            </a:r>
          </a:p>
          <a:p>
            <a:r>
              <a:t>Insert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t>Routing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Static routes between routers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Default route to firewall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Next-hop validation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Bidirectional path correction</a:t>
            </a:r>
            <a:r>
              <a:rPr lang="en-US" dirty="0"/>
              <a:t> </a:t>
            </a:r>
            <a:r>
              <a:rPr lang="en-US" dirty="0" err="1"/>
              <a:t>firewaal</a:t>
            </a:r>
            <a:r>
              <a:rPr lang="en-US" dirty="0"/>
              <a:t> 2 direction </a:t>
            </a:r>
            <a:r>
              <a:rPr lang="en-US" dirty="0" err="1"/>
              <a:t>soit</a:t>
            </a:r>
            <a:r>
              <a:rPr lang="en-US" dirty="0"/>
              <a:t> </a:t>
            </a:r>
            <a:r>
              <a:rPr lang="en-US" dirty="0" err="1"/>
              <a:t>routeur</a:t>
            </a:r>
            <a:r>
              <a:rPr lang="en-US" dirty="0"/>
              <a:t> 1 </a:t>
            </a:r>
            <a:r>
              <a:rPr lang="en-US" dirty="0" err="1"/>
              <a:t>soit</a:t>
            </a:r>
            <a:r>
              <a:rPr lang="en-US" dirty="0"/>
              <a:t> </a:t>
            </a:r>
            <a:r>
              <a:rPr lang="en-US" dirty="0" err="1"/>
              <a:t>routeur</a:t>
            </a:r>
            <a:r>
              <a:rPr lang="en-US" dirty="0"/>
              <a:t> 2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Diagram / Screenshot</a:t>
            </a:r>
          </a:p>
          <a:p>
            <a:r>
              <a:t>Insert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t>Firewall &amp; ACL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Permit-before-deny model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Controlled DMZ access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DNS &amp; TACACS explicitly allowed</a:t>
            </a:r>
            <a:r>
              <a:rPr lang="en-US" dirty="0"/>
              <a:t> difference between </a:t>
            </a:r>
            <a:r>
              <a:rPr lang="en-US" dirty="0" err="1"/>
              <a:t>tacacs</a:t>
            </a:r>
            <a:r>
              <a:rPr lang="en-US" dirty="0"/>
              <a:t> and radius </a:t>
            </a: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Default deny for protection</a:t>
            </a:r>
            <a:r>
              <a:rPr lang="en-US" dirty="0"/>
              <a:t>  deny any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Diagram / Screenshot</a:t>
            </a:r>
          </a:p>
          <a:p>
            <a:r>
              <a:t>Insert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9574"/>
            <a:ext cx="9144000" cy="6858000"/>
          </a:xfrm>
          <a:prstGeom prst="rect">
            <a:avLst/>
          </a:prstGeom>
          <a:solidFill>
            <a:srgbClr val="06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t>AAA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1783"/>
            <a:ext cx="530352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Local + TACACS configuration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Fallback method to prevent lockout</a:t>
            </a:r>
            <a:r>
              <a:rPr lang="en-US" dirty="0"/>
              <a:t> local login and default login line console 0 fallback and talk about how locked my self out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Fix </a:t>
            </a:r>
            <a:r>
              <a:rPr lang="en-US" dirty="0" err="1"/>
              <a:t>rommon</a:t>
            </a:r>
            <a:r>
              <a:rPr lang="en-US" dirty="0"/>
              <a:t> mode &gt;reset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Diagram / Screenshot</a:t>
            </a:r>
          </a:p>
          <a:p>
            <a:r>
              <a:t>Insert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45F0E-8E08-1C02-9C38-C515432A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D2D67-CD3A-603D-6988-03B9CFCF941B}"/>
              </a:ext>
            </a:extLst>
          </p:cNvPr>
          <p:cNvSpPr/>
          <p:nvPr/>
        </p:nvSpPr>
        <p:spPr>
          <a:xfrm>
            <a:off x="0" y="-69574"/>
            <a:ext cx="9144000" cy="6858000"/>
          </a:xfrm>
          <a:prstGeom prst="rect">
            <a:avLst/>
          </a:prstGeom>
          <a:solidFill>
            <a:srgbClr val="06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AFC3D-AF33-AEA2-53B8-062E3CBA4788}"/>
              </a:ext>
            </a:extLst>
          </p:cNvPr>
          <p:cNvSpPr txBox="1"/>
          <p:nvPr/>
        </p:nvSpPr>
        <p:spPr>
          <a:xfrm>
            <a:off x="731520" y="457200"/>
            <a:ext cx="12121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rPr lang="en-US" dirty="0"/>
              <a:t>HSRP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1979C-756A-5928-EDEF-B84EEEC0D753}"/>
              </a:ext>
            </a:extLst>
          </p:cNvPr>
          <p:cNvSpPr txBox="1"/>
          <p:nvPr/>
        </p:nvSpPr>
        <p:spPr>
          <a:xfrm>
            <a:off x="731520" y="1500809"/>
            <a:ext cx="530352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Standby pour </a:t>
            </a:r>
            <a:r>
              <a:rPr lang="en-US" dirty="0" err="1"/>
              <a:t>routeur</a:t>
            </a:r>
            <a:r>
              <a:rPr lang="en-US" dirty="0"/>
              <a:t> 2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While router 1 does main routing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Issue on return to lan subnet </a:t>
            </a:r>
            <a:r>
              <a:rPr lang="en-US" dirty="0" err="1"/>
              <a:t>throught</a:t>
            </a:r>
            <a:r>
              <a:rPr lang="en-US" dirty="0"/>
              <a:t> firewall it prefers taking router 2 route even with standby priority set at 100 and router 1 at 130 higher priority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47C77D-0EF8-E88C-C2B4-CFB3702426E8}"/>
              </a:ext>
            </a:extLst>
          </p:cNvPr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Diagram / Screenshot</a:t>
            </a:r>
          </a:p>
          <a:p>
            <a:r>
              <a:t>Insert Here</a:t>
            </a:r>
          </a:p>
        </p:txBody>
      </p:sp>
    </p:spTree>
    <p:extLst>
      <p:ext uri="{BB962C8B-B14F-4D97-AF65-F5344CB8AC3E}">
        <p14:creationId xmlns:p14="http://schemas.microsoft.com/office/powerpoint/2010/main" val="1899671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B60D-0429-6B37-752F-BEB12D1ED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1D206F-31D6-9F50-44F8-246D66D6770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9F430-7B09-5650-60CB-1892EC6A0C27}"/>
              </a:ext>
            </a:extLst>
          </p:cNvPr>
          <p:cNvSpPr txBox="1"/>
          <p:nvPr/>
        </p:nvSpPr>
        <p:spPr>
          <a:xfrm>
            <a:off x="731520" y="457200"/>
            <a:ext cx="34454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rPr lang="en-US" dirty="0"/>
              <a:t>NAT</a:t>
            </a:r>
            <a:r>
              <a:rPr dirty="0"/>
              <a:t> Deployment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946E7-DFD8-A97B-C51F-F4E3350833EC}"/>
              </a:ext>
            </a:extLst>
          </p:cNvPr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NAT translations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Does not work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So basically foreign addresses pass through </a:t>
            </a:r>
            <a:r>
              <a:rPr lang="en-US" dirty="0" err="1"/>
              <a:t>nat</a:t>
            </a:r>
            <a:r>
              <a:rPr lang="en-US" dirty="0"/>
              <a:t> no </a:t>
            </a:r>
            <a:r>
              <a:rPr lang="en-US" dirty="0" err="1"/>
              <a:t>ranslation</a:t>
            </a:r>
            <a:r>
              <a:rPr lang="en-US" dirty="0"/>
              <a:t> and go to firewall gets blocked so good for preventing translation of unknown </a:t>
            </a:r>
            <a:r>
              <a:rPr lang="en-US" dirty="0" err="1"/>
              <a:t>ips</a:t>
            </a:r>
            <a:r>
              <a:rPr lang="en-US" dirty="0"/>
              <a:t> entering </a:t>
            </a:r>
            <a:r>
              <a:rPr lang="en-US" dirty="0" err="1"/>
              <a:t>nat</a:t>
            </a:r>
            <a:r>
              <a:rPr lang="en-US" dirty="0"/>
              <a:t> cause if it worked then address could be </a:t>
            </a:r>
            <a:r>
              <a:rPr lang="en-US" dirty="0" err="1"/>
              <a:t>chaanged</a:t>
            </a:r>
            <a:r>
              <a:rPr lang="en-US" dirty="0"/>
              <a:t> to our subnet lan network and will pass firewall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Pat intern to communicate to private to public address but public 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337D8B0-F02A-C7AA-59B0-A99FCA4FAB26}"/>
              </a:ext>
            </a:extLst>
          </p:cNvPr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Diagram / Screenshot</a:t>
            </a:r>
          </a:p>
          <a:p>
            <a:r>
              <a:t>Insert Here</a:t>
            </a:r>
          </a:p>
        </p:txBody>
      </p:sp>
    </p:spTree>
    <p:extLst>
      <p:ext uri="{BB962C8B-B14F-4D97-AF65-F5344CB8AC3E}">
        <p14:creationId xmlns:p14="http://schemas.microsoft.com/office/powerpoint/2010/main" val="3586483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rPr dirty="0"/>
              <a:t>Major Mistakes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41148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Axel : confused with routing and I understood that we can route differently static or </a:t>
            </a:r>
            <a:r>
              <a:rPr lang="en-US" dirty="0" err="1"/>
              <a:t>vlan</a:t>
            </a:r>
            <a:r>
              <a:rPr lang="en-US" dirty="0"/>
              <a:t> j ai recommence l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inspirant</a:t>
            </a:r>
            <a:r>
              <a:rPr lang="en-US" dirty="0"/>
              <a:t> a </a:t>
            </a:r>
            <a:r>
              <a:rPr lang="en-US" dirty="0" err="1"/>
              <a:t>celui</a:t>
            </a:r>
            <a:r>
              <a:rPr lang="en-US" dirty="0"/>
              <a:t> </a:t>
            </a:r>
            <a:r>
              <a:rPr lang="en-US" dirty="0" err="1"/>
              <a:t>deja</a:t>
            </a:r>
            <a:r>
              <a:rPr lang="en-US" dirty="0"/>
              <a:t> fait et a </a:t>
            </a:r>
            <a:r>
              <a:rPr lang="en-US" dirty="0" err="1"/>
              <a:t>recreees</a:t>
            </a:r>
            <a:r>
              <a:rPr lang="en-US" dirty="0"/>
              <a:t> le network </a:t>
            </a:r>
            <a:r>
              <a:rPr lang="en-US" dirty="0" err="1"/>
              <a:t>entier</a:t>
            </a:r>
            <a:r>
              <a:rPr lang="en-US" dirty="0"/>
              <a:t>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Max : routing wrong ports and assigning </a:t>
            </a:r>
            <a:r>
              <a:rPr lang="en-US" dirty="0" err="1"/>
              <a:t>ip’s</a:t>
            </a:r>
            <a:r>
              <a:rPr lang="en-US" dirty="0"/>
              <a:t> with wrong subnet </a:t>
            </a:r>
            <a:r>
              <a:rPr lang="en-US" dirty="0" err="1"/>
              <a:t>gatewys</a:t>
            </a:r>
            <a:r>
              <a:rPr lang="en-US" dirty="0"/>
              <a:t> so routing wasn’t working </a:t>
            </a:r>
            <a:r>
              <a:rPr lang="en-US" dirty="0" err="1"/>
              <a:t>fixd</a:t>
            </a:r>
            <a:r>
              <a:rPr lang="en-US" dirty="0"/>
              <a:t> it added </a:t>
            </a:r>
            <a:r>
              <a:rPr lang="en-US" dirty="0" err="1"/>
              <a:t>ip</a:t>
            </a:r>
            <a:r>
              <a:rPr lang="en-US" dirty="0"/>
              <a:t> route of one port to the next hop port and it works Verify ARP green envelopes </a:t>
            </a:r>
            <a:r>
              <a:rPr lang="en-US" dirty="0" err="1"/>
              <a:t>arping</a:t>
            </a:r>
            <a:r>
              <a:rPr lang="en-US" dirty="0"/>
              <a:t> for testing Confirm return path exists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Lily:  thinking of material and modules more some routers gave limited functionality all routing was already done so changing it meant re configuring all or switching to </a:t>
            </a:r>
            <a:r>
              <a:rPr lang="en-US" dirty="0" err="1"/>
              <a:t>vlan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Diagram / Screenshot</a:t>
            </a:r>
          </a:p>
          <a:p>
            <a:r>
              <a:t>Insert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B22034-0EE5-106F-7329-8038D4AD2E1F}"/>
              </a:ext>
            </a:extLst>
          </p:cNvPr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F38BE-A99A-4440-1A15-441AFD3E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Axel : Lessons Learned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87CE-CE51-AFC2-0715-07823B4FF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routing and method of troubleshooting</a:t>
            </a:r>
          </a:p>
          <a:p>
            <a:r>
              <a:rPr lang="en-US" dirty="0"/>
              <a:t>Your  method used </a:t>
            </a:r>
          </a:p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vrai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qui ma aider </a:t>
            </a:r>
            <a:r>
              <a:rPr lang="en-US" dirty="0" err="1"/>
              <a:t>cest</a:t>
            </a:r>
            <a:r>
              <a:rPr lang="en-US" dirty="0"/>
              <a:t> </a:t>
            </a:r>
            <a:r>
              <a:rPr lang="en-US" dirty="0" err="1"/>
              <a:t>d’essayer</a:t>
            </a:r>
            <a:r>
              <a:rPr lang="en-US" dirty="0"/>
              <a:t> et de faire des trial and error</a:t>
            </a:r>
          </a:p>
          <a:p>
            <a:pPr marL="0" indent="0">
              <a:buNone/>
            </a:pPr>
            <a:r>
              <a:rPr lang="en-US" dirty="0"/>
              <a:t>Et </a:t>
            </a:r>
            <a:r>
              <a:rPr lang="en-US" dirty="0" err="1"/>
              <a:t>aussi</a:t>
            </a:r>
            <a:r>
              <a:rPr lang="en-US" dirty="0"/>
              <a:t> pour </a:t>
            </a:r>
            <a:r>
              <a:rPr lang="en-US" dirty="0" err="1"/>
              <a:t>comprendre</a:t>
            </a:r>
            <a:r>
              <a:rPr lang="en-US" dirty="0"/>
              <a:t> la solution qui a </a:t>
            </a:r>
            <a:r>
              <a:rPr lang="en-US" dirty="0" err="1"/>
              <a:t>ete</a:t>
            </a:r>
            <a:r>
              <a:rPr lang="en-US" dirty="0"/>
              <a:t> </a:t>
            </a:r>
            <a:r>
              <a:rPr lang="en-US" dirty="0" err="1"/>
              <a:t>implenmentee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Apprendre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pratique </a:t>
            </a:r>
            <a:r>
              <a:rPr lang="en-US" dirty="0" err="1"/>
              <a:t>mieux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theorie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235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AF8A-85BD-9C7A-43C2-BB3384D3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E63DD7-F2C6-3CA5-F9E8-D53DB52839E1}"/>
              </a:ext>
            </a:extLst>
          </p:cNvPr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DF8B9-D75F-E46F-C1C2-F3A7BDD3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: Lessons Learned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D54C-1E5D-65A3-F172-8AC5B0095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Stronger routing logic I learned that port assignment is critical for static routing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Better firewall design thinking blocking any at the top of list will do that and block everything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Enterprise AAA awareness routing fixed and </a:t>
            </a:r>
            <a:r>
              <a:rPr lang="en-US" dirty="0" err="1"/>
              <a:t>ttl</a:t>
            </a:r>
            <a:r>
              <a:rPr lang="en-US" dirty="0"/>
              <a:t> expired too early and </a:t>
            </a:r>
            <a:r>
              <a:rPr lang="en-US" dirty="0" err="1"/>
              <a:t>nev</a:t>
            </a:r>
            <a:r>
              <a:rPr lang="en-US" dirty="0"/>
              <a:t> er reached the switch or router in question.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35662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5C93-7515-CA6F-7C02-5C09D0A7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793670-3D21-C847-455A-0A5F45B2EC2C}"/>
              </a:ext>
            </a:extLst>
          </p:cNvPr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F7BB4-7CF7-1D17-C316-CF981D8F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Lily : Lessons Learned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5533-B5B9-9BD7-0932-C6A9FDC26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</a:t>
            </a:r>
            <a:r>
              <a:rPr lang="en-US" dirty="0">
                <a:sym typeface="Wingdings" panose="05000000000000000000" pitchFamily="2" charset="2"/>
              </a:rPr>
              <a:t> learned lot by double checking work done on packet tracer and fact checking </a:t>
            </a:r>
          </a:p>
          <a:p>
            <a:r>
              <a:rPr lang="en-US" dirty="0">
                <a:sym typeface="Wingdings" panose="05000000000000000000" pitchFamily="2" charset="2"/>
              </a:rPr>
              <a:t>Will I be ready to make it by my own now maybe not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099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8FF"/>
                </a:solidFill>
              </a:defRPr>
            </a:pPr>
            <a:r>
              <a:t>Technical Growth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Diagram / Screenshot</a:t>
            </a:r>
          </a:p>
          <a:p>
            <a:r>
              <a:t>Insert Here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394C-6978-C4B1-8D0C-A9E65105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96FAC-B63D-10C2-BACE-72F0ECC49A28}"/>
              </a:ext>
            </a:extLst>
          </p:cNvPr>
          <p:cNvSpPr/>
          <p:nvPr/>
        </p:nvSpPr>
        <p:spPr>
          <a:xfrm>
            <a:off x="0" y="-54244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0871A-08E2-6E57-36E6-64B58C2F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1088450"/>
            <a:ext cx="7290054" cy="493148"/>
          </a:xfrm>
          <a:solidFill>
            <a:srgbClr val="0078D7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</a:t>
            </a:r>
            <a:r>
              <a:rPr lang="en-GB" sz="28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worked</a:t>
            </a:r>
            <a:endParaRPr lang="en-BE" sz="28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1C4DE-5B88-A6C1-2675-F25CCFA0C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Roles played </a:t>
            </a:r>
          </a:p>
          <a:p>
            <a:r>
              <a:rPr lang="en-US" dirty="0"/>
              <a:t>Coordination lily cross-checking chief manager</a:t>
            </a:r>
          </a:p>
          <a:p>
            <a:r>
              <a:rPr lang="en-US" dirty="0"/>
              <a:t>Max Chief troubleshooter</a:t>
            </a:r>
          </a:p>
          <a:p>
            <a:r>
              <a:rPr lang="en-US" dirty="0"/>
              <a:t>Axel chief researcher co chief troubleshooter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944517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175</TotalTime>
  <Words>750</Words>
  <Application>Microsoft Office PowerPoint</Application>
  <PresentationFormat>On-screen Show (4:3)</PresentationFormat>
  <Paragraphs>126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Tw Cen MT</vt:lpstr>
      <vt:lpstr>Tw Cen MT Condensed</vt:lpstr>
      <vt:lpstr>Wingdings</vt:lpstr>
      <vt:lpstr>Wingdings 3</vt:lpstr>
      <vt:lpstr>Integral</vt:lpstr>
      <vt:lpstr>PowerPoint Presentation</vt:lpstr>
      <vt:lpstr>PowerPoint Presentation</vt:lpstr>
      <vt:lpstr>PowerPoint Presentation</vt:lpstr>
      <vt:lpstr>How we worked (cont)</vt:lpstr>
      <vt:lpstr>Static IPs + Subnets  Scalable talk how</vt:lpstr>
      <vt:lpstr>Other hardening measures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Axel : Lessons Learned</vt:lpstr>
      <vt:lpstr>Max : Lessons Learned</vt:lpstr>
      <vt:lpstr>Lily : Lessons Learned</vt:lpstr>
      <vt:lpstr>PowerPoint Presentation</vt:lpstr>
      <vt:lpstr>How we worked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max cozzone</dc:creator>
  <cp:keywords/>
  <dc:description>generated using python-pptx</dc:description>
  <cp:lastModifiedBy>Maximilian I. Cozzone</cp:lastModifiedBy>
  <cp:revision>4</cp:revision>
  <dcterms:created xsi:type="dcterms:W3CDTF">2013-01-27T09:14:16Z</dcterms:created>
  <dcterms:modified xsi:type="dcterms:W3CDTF">2026-02-27T15:14:33Z</dcterms:modified>
  <cp:category/>
</cp:coreProperties>
</file>